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ora SemiBold"/>
      <p:regular r:id="rId20"/>
      <p:bold r:id="rId21"/>
    </p:embeddedFont>
    <p:embeddedFont>
      <p:font typeface="IBM Plex Sans Medium"/>
      <p:regular r:id="rId22"/>
      <p:bold r:id="rId23"/>
      <p:italic r:id="rId24"/>
      <p:boldItalic r:id="rId25"/>
    </p:embeddedFont>
    <p:embeddedFont>
      <p:font typeface="Sora Light"/>
      <p:regular r:id="rId26"/>
      <p:bold r:id="rId27"/>
    </p:embeddedFont>
    <p:embeddedFont>
      <p:font typeface="Sora ExtraLight"/>
      <p:regular r:id="rId28"/>
      <p:bold r:id="rId29"/>
    </p:embeddedFont>
    <p:embeddedFont>
      <p:font typeface="Sora"/>
      <p:regular r:id="rId30"/>
      <p:bold r:id="rId31"/>
    </p:embeddedFont>
    <p:embeddedFont>
      <p:font typeface="Sora Medium"/>
      <p:regular r:id="rId32"/>
      <p:bold r:id="rId33"/>
    </p:embeddedFont>
    <p:embeddedFont>
      <p:font typeface="IBM Plex Sa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-bold.fntdata"/><Relationship Id="rId30" Type="http://schemas.openxmlformats.org/officeDocument/2006/relationships/font" Target="fonts/Sora-regular.fntdata"/><Relationship Id="rId33" Type="http://schemas.openxmlformats.org/officeDocument/2006/relationships/font" Target="fonts/SoraMedium-bold.fntdata"/><Relationship Id="rId32" Type="http://schemas.openxmlformats.org/officeDocument/2006/relationships/font" Target="fonts/SoraMedium-regular.fntdata"/><Relationship Id="rId35" Type="http://schemas.openxmlformats.org/officeDocument/2006/relationships/font" Target="fonts/IBMPlexSansSemiBold-bold.fntdata"/><Relationship Id="rId34" Type="http://schemas.openxmlformats.org/officeDocument/2006/relationships/font" Target="fonts/IBMPlexSansSemiBold-regular.fntdata"/><Relationship Id="rId37" Type="http://schemas.openxmlformats.org/officeDocument/2006/relationships/font" Target="fonts/IBMPlexSansSemiBold-boldItalic.fntdata"/><Relationship Id="rId36" Type="http://schemas.openxmlformats.org/officeDocument/2006/relationships/font" Target="fonts/IBMPlexSansSemiBold-italic.fntdata"/><Relationship Id="rId20" Type="http://schemas.openxmlformats.org/officeDocument/2006/relationships/font" Target="fonts/SoraSemiBold-regular.fntdata"/><Relationship Id="rId22" Type="http://schemas.openxmlformats.org/officeDocument/2006/relationships/font" Target="fonts/IBMPlexSansMedium-regular.fntdata"/><Relationship Id="rId21" Type="http://schemas.openxmlformats.org/officeDocument/2006/relationships/font" Target="fonts/SoraSemiBold-bold.fntdata"/><Relationship Id="rId24" Type="http://schemas.openxmlformats.org/officeDocument/2006/relationships/font" Target="fonts/IBMPlexSansMedium-italic.fntdata"/><Relationship Id="rId23" Type="http://schemas.openxmlformats.org/officeDocument/2006/relationships/font" Target="fonts/IBMPlexSansMedium-bold.fntdata"/><Relationship Id="rId26" Type="http://schemas.openxmlformats.org/officeDocument/2006/relationships/font" Target="fonts/SoraLight-regular.fntdata"/><Relationship Id="rId25" Type="http://schemas.openxmlformats.org/officeDocument/2006/relationships/font" Target="fonts/IBMPlexSansMedium-boldItalic.fntdata"/><Relationship Id="rId28" Type="http://schemas.openxmlformats.org/officeDocument/2006/relationships/font" Target="fonts/SoraExtraLight-regular.fntdata"/><Relationship Id="rId27" Type="http://schemas.openxmlformats.org/officeDocument/2006/relationships/font" Target="fonts/SoraLight-bold.fntdata"/><Relationship Id="rId29" Type="http://schemas.openxmlformats.org/officeDocument/2006/relationships/font" Target="fonts/SoraExtra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19" Type="http://schemas.openxmlformats.org/officeDocument/2006/relationships/font" Target="fonts/IBMPlexSans-boldItalic.fntdata"/><Relationship Id="rId18" Type="http://schemas.openxmlformats.org/officeDocument/2006/relationships/font" Target="fonts/IBMPlex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f2e59fb1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f2e59fb1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f2e59fb19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f2e59fb19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f2e59fb194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f2e59fb194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f2e59fb194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f2e59fb194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f2e59fb194_0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f2e59fb194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f2e59fb194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f2e59fb194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f2e59fb194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f2e59fb194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f2e59fb194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3f2e59fb194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2e59fb194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f2e59fb194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99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3999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Case Study 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3310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Sora"/>
                <a:ea typeface="Sora"/>
                <a:cs typeface="Sora"/>
                <a:sym typeface="Sora"/>
              </a:rPr>
              <a:t>Apache Spark Shuffling, Narrow vs. Wide Transformations, And 2 Coding Problems</a:t>
            </a:r>
            <a:endParaRPr sz="16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/>
        </p:nvSpPr>
        <p:spPr>
          <a:xfrm>
            <a:off x="463800" y="228600"/>
            <a:ext cx="83103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ra"/>
              <a:buChar char="-"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Redistribution of data </a:t>
            </a:r>
            <a:r>
              <a:rPr lang="en" sz="24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across partitions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Allows for the management of records that need to be together within memory (same keys placed into same partition)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ra"/>
              <a:buChar char="-"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High-level: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Triggered by methods/operations: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groupByKey, reduceByKey, join, distinct, repartition, sortByKey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ra"/>
              <a:buChar char="-"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Low-level: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1. Shuffle Write: Each executor writes its data to disk, organized by 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destination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partition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/key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2. Network Transfer: Data moves 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across</a:t>
            </a: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the cluster so matching kys land on same executor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ora"/>
              <a:buChar char="-"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3. Shuffle Read: Receiving executors read data back in to build new partitions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0" name="Google Shape;940;p64"/>
          <p:cNvSpPr txBox="1"/>
          <p:nvPr/>
        </p:nvSpPr>
        <p:spPr>
          <a:xfrm>
            <a:off x="2717850" y="-136675"/>
            <a:ext cx="370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What is Shuffling?</a:t>
            </a:r>
            <a:endParaRPr sz="30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5"/>
          <p:cNvSpPr txBox="1"/>
          <p:nvPr/>
        </p:nvSpPr>
        <p:spPr>
          <a:xfrm>
            <a:off x="154425" y="457200"/>
            <a:ext cx="8702700" cy="4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Each output partition depends on exactly 1 input partition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Common examples: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map(), filter(), flatMap(), union()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65"/>
          <p:cNvSpPr txBox="1"/>
          <p:nvPr/>
        </p:nvSpPr>
        <p:spPr>
          <a:xfrm>
            <a:off x="2404575" y="-96900"/>
            <a:ext cx="4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Narrow Transformations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7" name="Google Shape;94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613" y="906601"/>
            <a:ext cx="5902775" cy="27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6"/>
          <p:cNvSpPr txBox="1"/>
          <p:nvPr/>
        </p:nvSpPr>
        <p:spPr>
          <a:xfrm>
            <a:off x="154425" y="457200"/>
            <a:ext cx="8702700" cy="4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Each output partition may depend on MANY input 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partitions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Common examples: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join(), groupByKey(), reduceByKey(), repartition()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3" name="Google Shape;95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250" y="880375"/>
            <a:ext cx="611505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66"/>
          <p:cNvSpPr txBox="1"/>
          <p:nvPr/>
        </p:nvSpPr>
        <p:spPr>
          <a:xfrm>
            <a:off x="2404575" y="-96900"/>
            <a:ext cx="420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Wide </a:t>
            </a: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Transformations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7"/>
          <p:cNvSpPr txBox="1"/>
          <p:nvPr/>
        </p:nvSpPr>
        <p:spPr>
          <a:xfrm>
            <a:off x="3113250" y="75650"/>
            <a:ext cx="282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Narrow Vs. Wide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60" name="Google Shape;96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706500"/>
            <a:ext cx="3917726" cy="357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7"/>
          <p:cNvPicPr preferRelativeResize="0"/>
          <p:nvPr/>
        </p:nvPicPr>
        <p:blipFill rotWithShape="1">
          <a:blip r:embed="rId4">
            <a:alphaModFix/>
          </a:blip>
          <a:srcRect b="0" l="0" r="3837" t="0"/>
          <a:stretch/>
        </p:blipFill>
        <p:spPr>
          <a:xfrm>
            <a:off x="4650725" y="706500"/>
            <a:ext cx="4116349" cy="357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838" y="228600"/>
            <a:ext cx="6878432" cy="298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4801" y="3243888"/>
            <a:ext cx="4060500" cy="173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16883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722" y="2274438"/>
            <a:ext cx="3759300" cy="26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713" y="325473"/>
            <a:ext cx="3449325" cy="14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Google Shape;97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238" y="295275"/>
            <a:ext cx="5305425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9313" y="2807300"/>
            <a:ext cx="490537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99707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3625" y="2005475"/>
            <a:ext cx="3268449" cy="18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71"/>
          <p:cNvSpPr txBox="1"/>
          <p:nvPr/>
        </p:nvSpPr>
        <p:spPr>
          <a:xfrm>
            <a:off x="5244350" y="3874450"/>
            <a:ext cx="38070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-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exact grouping may differ slightly, but unlike repartition(), coalesce() tries to avoid a full shuffle and generally combines existing partitions together.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8" name="Google Shape;98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8584" y="354225"/>
            <a:ext cx="3518535" cy="13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